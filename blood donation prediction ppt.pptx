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notesMasterIdLst>
    <p:notesMasterId r:id="rId17"/>
  </p:notesMasterIdLst>
  <p:sldIdLst>
    <p:sldId id="256" r:id="rId5"/>
    <p:sldId id="2146847054" r:id="rId6"/>
    <p:sldId id="262" r:id="rId7"/>
    <p:sldId id="263" r:id="rId8"/>
    <p:sldId id="265" r:id="rId9"/>
    <p:sldId id="266" r:id="rId10"/>
    <p:sldId id="267" r:id="rId11"/>
    <p:sldId id="268" r:id="rId12"/>
    <p:sldId id="2146847055" r:id="rId13"/>
    <p:sldId id="269" r:id="rId14"/>
    <p:sldId id="2146847058" r:id="rId15"/>
    <p:sldId id="25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BA97"/>
    <a:srgbClr val="8E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466EFC-1F62-CA2C-07B1-96111B302B1B}" v="154" dt="2023-11-22T13:37:01.483"/>
    <p1510:client id="{47C7BCB7-7546-3717-E035-B2126C89CD1A}" v="2" dt="2023-11-22T12:55:27.3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594" autoAdjust="0"/>
  </p:normalViewPr>
  <p:slideViewPr>
    <p:cSldViewPr snapToGrid="0">
      <p:cViewPr>
        <p:scale>
          <a:sx n="76" d="100"/>
          <a:sy n="76" d="100"/>
        </p:scale>
        <p:origin x="-480" y="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256A78-79A6-408F-8148-4F87BB81602D}" type="datetimeFigureOut">
              <a:rPr lang="en-IN" smtClean="0"/>
              <a:t>21-06-2026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E254F1-4415-47BF-9E91-C5D4B9A333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8008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=""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6/21/2026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=""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=""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302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302026"/>
            <a:ext cx="11029615" cy="467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=""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6/21/2026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6/21/2026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=""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=""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49285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1391479"/>
            <a:ext cx="5194767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1391479"/>
            <a:ext cx="5194769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59224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6/21/2026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=""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6/21/2026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=""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=""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=""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6/21/2026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=""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=""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5571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1415198"/>
            <a:ext cx="11029616" cy="45728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6/21/2026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8" name="Picture 7" descr="Logo&#10;&#10;Description automatically generated">
            <a:extLst>
              <a:ext uri="{FF2B5EF4-FFF2-40B4-BE49-F238E27FC236}">
                <a16:creationId xmlns="" xmlns:a16="http://schemas.microsoft.com/office/drawing/2014/main" id="{14A64E4D-8DED-7830-2955-1BE78C5B065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0485003" y="6437910"/>
            <a:ext cx="1125805" cy="365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treamlit.io/" TargetMode="External"/><Relationship Id="rId2" Type="http://schemas.openxmlformats.org/officeDocument/2006/relationships/hyperlink" Target="https://pandas.pydata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chive.ics.uci.edu/dataset/176/blood+transfusion+service+center" TargetMode="External"/><Relationship Id="rId5" Type="http://schemas.openxmlformats.org/officeDocument/2006/relationships/hyperlink" Target="https://scikit-learn.org/stable/supervised_learning.html" TargetMode="External"/><Relationship Id="rId4" Type="http://schemas.openxmlformats.org/officeDocument/2006/relationships/hyperlink" Target="https://www.python.org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bloodlife-ai.streamlit.app/" TargetMode="External"/><Relationship Id="rId2" Type="http://schemas.openxmlformats.org/officeDocument/2006/relationships/hyperlink" Target="https://github.com/so-l-s/BloodLife-AI-Blood-Donation-Prediction-System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8A11E26-4C38-41A6-9857-11032CEECD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9108" y="1821635"/>
            <a:ext cx="9144000" cy="97777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/>
              <a:t>BloodLife</a:t>
            </a:r>
            <a:r>
              <a:rPr lang="en-US" dirty="0"/>
              <a:t> AI: Blood Donation Prediction System Using Machine Learning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-329782" y="1034321"/>
            <a:ext cx="1272664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200" b="1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2196" y="4058588"/>
            <a:ext cx="7980183" cy="16312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Presented By: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Student Name-  </a:t>
            </a:r>
            <a:r>
              <a:rPr lang="en-US" sz="2000" b="1" dirty="0" err="1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Sohail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 Shaikh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College Name- </a:t>
            </a:r>
            <a:r>
              <a:rPr lang="en-US" sz="2000" b="1" dirty="0" err="1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Karmaveer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 </a:t>
            </a:r>
            <a:r>
              <a:rPr lang="en-US" sz="2000" b="1" dirty="0" err="1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Adv.Baburao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 </a:t>
            </a:r>
            <a:r>
              <a:rPr lang="en-US" sz="2000" b="1" dirty="0" err="1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Ganpatrao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 </a:t>
            </a:r>
            <a:r>
              <a:rPr lang="en-US" sz="2000" b="1" dirty="0" err="1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Thakre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 College of Engineering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Department- 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B.E.(Computer)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3325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9FFEB4C-F209-4AE7-AA2B-B3C26CE2C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9469" y="508364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 smtClean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OUTLINE</a:t>
            </a:r>
            <a:endParaRPr lang="en-US" sz="36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2678641-EEA3-4EC4-BF39-4075B0C12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8938"/>
            <a:ext cx="11019020" cy="52390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b="1" dirty="0">
                <a:latin typeface="Arial"/>
                <a:ea typeface="+mn-lt"/>
                <a:cs typeface="Arial"/>
              </a:rPr>
              <a:t>  </a:t>
            </a:r>
            <a:endParaRPr lang="en-US" dirty="0">
              <a:latin typeface="Arial"/>
              <a:cs typeface="Arial"/>
            </a:endParaRP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Problem </a:t>
            </a:r>
            <a:r>
              <a:rPr lang="en-US" sz="2000" b="1" dirty="0" smtClean="0">
                <a:latin typeface="Arial"/>
                <a:ea typeface="+mn-lt"/>
                <a:cs typeface="Arial"/>
              </a:rPr>
              <a:t>Statement</a:t>
            </a:r>
            <a:endParaRPr lang="en-US" dirty="0">
              <a:latin typeface="Arial"/>
              <a:cs typeface="Arial"/>
            </a:endParaRP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Proposed System/Solution</a:t>
            </a:r>
            <a:endParaRPr lang="en-US" dirty="0">
              <a:latin typeface="Arial"/>
              <a:cs typeface="Arial"/>
            </a:endParaRPr>
          </a:p>
          <a:p>
            <a:r>
              <a:rPr lang="en-US" sz="2000" b="1" dirty="0">
                <a:latin typeface="Arial"/>
                <a:ea typeface="+mn-lt"/>
                <a:cs typeface="Calibri"/>
              </a:rPr>
              <a:t>System </a:t>
            </a:r>
            <a:r>
              <a:rPr lang="en-US" sz="2000" b="1" dirty="0">
                <a:latin typeface="Arial"/>
                <a:ea typeface="+mn-lt"/>
                <a:cs typeface="+mn-lt"/>
              </a:rPr>
              <a:t>Development Approach </a:t>
            </a:r>
            <a:r>
              <a:rPr lang="en-US" sz="2000" dirty="0">
                <a:latin typeface="Arial"/>
                <a:ea typeface="+mn-lt"/>
                <a:cs typeface="+mn-lt"/>
              </a:rPr>
              <a:t>(Technology Used) </a:t>
            </a:r>
            <a:endParaRPr lang="en-US" dirty="0">
              <a:latin typeface="Arial"/>
              <a:ea typeface="+mn-lt"/>
              <a:cs typeface="+mn-lt"/>
            </a:endParaRPr>
          </a:p>
          <a:p>
            <a:r>
              <a:rPr lang="en-US" sz="2000" b="1" dirty="0">
                <a:latin typeface="Arial"/>
                <a:ea typeface="+mn-lt"/>
                <a:cs typeface="+mn-lt"/>
              </a:rPr>
              <a:t>Algorithm &amp; Deployment  </a:t>
            </a:r>
            <a:endParaRPr lang="en-US" dirty="0">
              <a:latin typeface="Arial"/>
              <a:cs typeface="Calibri"/>
            </a:endParaRP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Result</a:t>
            </a: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Conclusion</a:t>
            </a:r>
            <a:endParaRPr lang="en-US" dirty="0">
              <a:latin typeface="Arial"/>
              <a:cs typeface="Arial"/>
            </a:endParaRP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Future Scope</a:t>
            </a: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References</a:t>
            </a:r>
            <a:endParaRPr lang="en-US" dirty="0">
              <a:latin typeface="Arial"/>
              <a:cs typeface="Arial"/>
            </a:endParaRPr>
          </a:p>
          <a:p>
            <a:endParaRPr lang="en-US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001537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=""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  <a:endParaRPr lang="en-US" sz="44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="" xmlns:a16="http://schemas.microsoft.com/office/drawing/2014/main" id="{8FEE4A9C-3F57-7DA7-91FD-715C3FB47F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403" y="1237632"/>
            <a:ext cx="11029615" cy="4673324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2000" dirty="0" smtClean="0"/>
              <a:t>Blood </a:t>
            </a:r>
            <a:r>
              <a:rPr lang="en-US" sz="2000" dirty="0"/>
              <a:t>banks often face shortages of blood during </a:t>
            </a:r>
            <a:r>
              <a:rPr lang="en-US" sz="2000" dirty="0" smtClean="0"/>
              <a:t>emergencies.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000" dirty="0" smtClean="0"/>
              <a:t>It </a:t>
            </a:r>
            <a:r>
              <a:rPr lang="en-US" sz="2000" dirty="0"/>
              <a:t>is difficult to identify donors who are likely to donate </a:t>
            </a:r>
            <a:r>
              <a:rPr lang="en-US" sz="2000" dirty="0" smtClean="0"/>
              <a:t>again.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000" dirty="0" smtClean="0"/>
              <a:t>Contacting </a:t>
            </a:r>
            <a:r>
              <a:rPr lang="en-US" sz="2000" dirty="0"/>
              <a:t>all registered donors requires significant time and </a:t>
            </a:r>
            <a:r>
              <a:rPr lang="en-US" sz="2000" dirty="0" smtClean="0"/>
              <a:t>effort.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000" dirty="0"/>
              <a:t>Donor records are often underutilized.</a:t>
            </a:r>
            <a:endParaRPr lang="en-US" sz="2000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US" sz="2000" dirty="0" smtClean="0"/>
              <a:t>There </a:t>
            </a:r>
            <a:r>
              <a:rPr lang="en-US" sz="2000" dirty="0"/>
              <a:t>is a need for a system that can analyze donor history and support decision-making.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186421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=""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Proposed Solution</a:t>
            </a:r>
            <a:endParaRPr lang="en-US" sz="44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="" xmlns:a16="http://schemas.microsoft.com/office/drawing/2014/main" id="{E041FD9D-DF07-9C37-1E61-1D920E0EF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671" y="1087378"/>
            <a:ext cx="11613485" cy="556397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en-US" sz="2000" dirty="0"/>
              <a:t>Develop a Machine Learning based Blood Donation Prediction System</a:t>
            </a:r>
            <a:r>
              <a:rPr lang="en-US" sz="2000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000" dirty="0" smtClean="0"/>
              <a:t>Analyze </a:t>
            </a:r>
            <a:r>
              <a:rPr lang="en-US" sz="2000" dirty="0"/>
              <a:t>previous donation records of donors</a:t>
            </a:r>
            <a:r>
              <a:rPr lang="en-US" sz="2000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000" dirty="0" smtClean="0"/>
              <a:t>Predict </a:t>
            </a:r>
            <a:r>
              <a:rPr lang="en-US" sz="2000" dirty="0"/>
              <a:t>whether a donor is likely to donate blood </a:t>
            </a:r>
            <a:r>
              <a:rPr lang="en-US" sz="2000" dirty="0" err="1"/>
              <a:t>again.Help</a:t>
            </a:r>
            <a:r>
              <a:rPr lang="en-US" sz="2000" dirty="0"/>
              <a:t> blood banks focus on potential donors</a:t>
            </a:r>
            <a:r>
              <a:rPr lang="en-US" sz="2000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000" dirty="0" smtClean="0"/>
              <a:t>Improve </a:t>
            </a:r>
            <a:r>
              <a:rPr lang="en-US" sz="2000" dirty="0"/>
              <a:t>blood collection efficiency and availability</a:t>
            </a:r>
            <a:r>
              <a:rPr lang="en-US" sz="2000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000" dirty="0"/>
              <a:t>Support both individual donor prediction and bulk donor analysis</a:t>
            </a:r>
            <a:r>
              <a:rPr lang="en-US" sz="2000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000" dirty="0"/>
              <a:t>Provide insights through dashboards and reports</a:t>
            </a:r>
            <a:r>
              <a:rPr lang="en-US" sz="2000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000" dirty="0"/>
              <a:t>Help blood banks focus on potential donors.</a:t>
            </a:r>
            <a:endParaRPr lang="en-IN" sz="2000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0358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=""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088" y="800358"/>
            <a:ext cx="11029616" cy="530296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System  Approach</a:t>
            </a:r>
            <a:endParaRPr lang="en-US" sz="4400">
              <a:solidFill>
                <a:schemeClr val="accent1"/>
              </a:solidFill>
              <a:latin typeface="Calibri Light"/>
              <a:cs typeface="Calibri Light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="" xmlns:a16="http://schemas.microsoft.com/office/drawing/2014/main" id="{0614F04E-6F49-1ECF-2A47-F63BBF04A3A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68666" y="2125082"/>
            <a:ext cx="3589975" cy="51214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IN" sz="1800" b="1" dirty="0" smtClean="0"/>
              <a:t>Programming </a:t>
            </a:r>
            <a:r>
              <a:rPr lang="en-IN" sz="1800" b="1" dirty="0"/>
              <a:t>Language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800" dirty="0" smtClean="0"/>
              <a:t>Python</a:t>
            </a:r>
          </a:p>
          <a:p>
            <a:pPr marL="0" indent="0">
              <a:buNone/>
            </a:pPr>
            <a:r>
              <a:rPr lang="en-IN" sz="1800" b="1" dirty="0" smtClean="0"/>
              <a:t>Libraries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800" dirty="0" smtClean="0"/>
              <a:t>Pandas</a:t>
            </a:r>
            <a:endParaRPr lang="en-IN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IN" sz="1800" dirty="0" err="1"/>
              <a:t>NumPy</a:t>
            </a:r>
            <a:endParaRPr lang="en-IN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IN" sz="1800" dirty="0" err="1"/>
              <a:t>Scikit</a:t>
            </a:r>
            <a:r>
              <a:rPr lang="en-IN" sz="1800" dirty="0"/>
              <a:t>-Learn</a:t>
            </a:r>
          </a:p>
          <a:p>
            <a:pPr marL="0" indent="0">
              <a:buNone/>
            </a:pPr>
            <a:r>
              <a:rPr lang="en-IN" sz="1800" b="1" dirty="0"/>
              <a:t>User Interface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800" dirty="0" err="1"/>
              <a:t>Streamlit</a:t>
            </a:r>
            <a:endParaRPr lang="en-IN" sz="1800" dirty="0"/>
          </a:p>
          <a:p>
            <a:pPr marL="0" indent="0">
              <a:buNone/>
            </a:pPr>
            <a:r>
              <a:rPr lang="en-IN" sz="1800" b="1" dirty="0"/>
              <a:t>Development Environment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800" dirty="0"/>
              <a:t>VS Code</a:t>
            </a:r>
          </a:p>
          <a:p>
            <a:pPr marL="0" indent="0">
              <a:buNone/>
            </a:pPr>
            <a:endParaRPr lang="en-IN" sz="18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271377" y="2179156"/>
            <a:ext cx="67891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Dataset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IN" dirty="0"/>
              <a:t>Blood Transfusion Service </a:t>
            </a:r>
            <a:r>
              <a:rPr lang="en-IN" dirty="0" err="1"/>
              <a:t>Center</a:t>
            </a:r>
            <a:r>
              <a:rPr lang="en-IN" dirty="0"/>
              <a:t> </a:t>
            </a:r>
            <a:r>
              <a:rPr lang="en-IN" dirty="0" smtClean="0"/>
              <a:t>Dataset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/>
          </a:p>
          <a:p>
            <a:r>
              <a:rPr lang="en-IN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Model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IN" dirty="0" smtClean="0"/>
              <a:t>Logistic Regression</a:t>
            </a:r>
            <a:endParaRPr lang="en-IN" dirty="0"/>
          </a:p>
        </p:txBody>
      </p:sp>
      <p:sp>
        <p:nvSpPr>
          <p:cNvPr id="6" name="TextBox 5"/>
          <p:cNvSpPr txBox="1"/>
          <p:nvPr/>
        </p:nvSpPr>
        <p:spPr>
          <a:xfrm>
            <a:off x="613774" y="1440492"/>
            <a:ext cx="31690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q"/>
            </a:pPr>
            <a:r>
              <a:rPr lang="en-IN" sz="2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Technologies Used</a:t>
            </a:r>
          </a:p>
          <a:p>
            <a:pPr>
              <a:buClr>
                <a:schemeClr val="accent1">
                  <a:lumMod val="60000"/>
                  <a:lumOff val="40000"/>
                </a:schemeClr>
              </a:buClr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2024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=""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839" y="739734"/>
            <a:ext cx="11029616" cy="530296"/>
          </a:xfrm>
        </p:spPr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Algorithm &amp; Deployment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764087" y="1227550"/>
            <a:ext cx="5323561" cy="292387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IN" sz="2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Algorithm Used: Logistic Regression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000" dirty="0" smtClean="0"/>
              <a:t>Load </a:t>
            </a:r>
            <a:r>
              <a:rPr lang="en-IN" sz="2000" dirty="0"/>
              <a:t>blood donation dataset</a:t>
            </a:r>
            <a:r>
              <a:rPr lang="en-IN" sz="20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000" dirty="0" smtClean="0"/>
              <a:t>Perform </a:t>
            </a:r>
            <a:r>
              <a:rPr lang="en-IN" sz="2000" dirty="0"/>
              <a:t>data </a:t>
            </a:r>
            <a:r>
              <a:rPr lang="en-IN" sz="2000" dirty="0" err="1"/>
              <a:t>preprocessing</a:t>
            </a:r>
            <a:r>
              <a:rPr lang="en-IN" sz="20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000" dirty="0" smtClean="0"/>
              <a:t>Split </a:t>
            </a:r>
            <a:r>
              <a:rPr lang="en-IN" sz="2000" dirty="0"/>
              <a:t>data into training and testing sets</a:t>
            </a:r>
            <a:r>
              <a:rPr lang="en-IN" sz="20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000" dirty="0" smtClean="0"/>
              <a:t>Train </a:t>
            </a:r>
            <a:r>
              <a:rPr lang="en-IN" sz="2000" dirty="0"/>
              <a:t>Logistic Regression model</a:t>
            </a:r>
            <a:r>
              <a:rPr lang="en-IN" sz="20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000" dirty="0" smtClean="0"/>
              <a:t>Save </a:t>
            </a:r>
            <a:r>
              <a:rPr lang="en-IN" sz="2000" dirty="0"/>
              <a:t>trained model</a:t>
            </a:r>
            <a:r>
              <a:rPr lang="en-IN" sz="20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000" dirty="0" smtClean="0"/>
              <a:t>Accept </a:t>
            </a:r>
            <a:r>
              <a:rPr lang="en-IN" sz="2000" dirty="0"/>
              <a:t>donor details as input</a:t>
            </a:r>
            <a:r>
              <a:rPr lang="en-IN" sz="20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000" dirty="0" smtClean="0"/>
              <a:t>Predict </a:t>
            </a:r>
            <a:r>
              <a:rPr lang="en-IN" sz="2000" dirty="0"/>
              <a:t>donor </a:t>
            </a:r>
            <a:r>
              <a:rPr lang="en-IN" sz="2000" dirty="0" err="1"/>
              <a:t>behavior</a:t>
            </a:r>
            <a:r>
              <a:rPr lang="en-IN" sz="20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000" dirty="0" smtClean="0"/>
              <a:t>Display </a:t>
            </a:r>
            <a:r>
              <a:rPr lang="en-IN" sz="2000" dirty="0"/>
              <a:t>prediction result.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4888" y="1365335"/>
            <a:ext cx="3494762" cy="369331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IN" dirty="0"/>
              <a:t>Dataset</a:t>
            </a:r>
          </a:p>
          <a:p>
            <a:pPr algn="ctr"/>
            <a:r>
              <a:rPr lang="en-IN" dirty="0"/>
              <a:t>   ↓</a:t>
            </a:r>
          </a:p>
          <a:p>
            <a:pPr algn="ctr"/>
            <a:r>
              <a:rPr lang="en-IN" dirty="0"/>
              <a:t>Data </a:t>
            </a:r>
            <a:r>
              <a:rPr lang="en-IN" dirty="0" err="1"/>
              <a:t>Preprocessing</a:t>
            </a:r>
            <a:endParaRPr lang="en-IN" dirty="0"/>
          </a:p>
          <a:p>
            <a:pPr algn="ctr"/>
            <a:r>
              <a:rPr lang="en-IN" dirty="0"/>
              <a:t>   ↓</a:t>
            </a:r>
          </a:p>
          <a:p>
            <a:pPr algn="ctr"/>
            <a:r>
              <a:rPr lang="en-IN" dirty="0"/>
              <a:t>Model Training</a:t>
            </a:r>
          </a:p>
          <a:p>
            <a:pPr algn="ctr"/>
            <a:r>
              <a:rPr lang="en-IN" dirty="0"/>
              <a:t>   ↓</a:t>
            </a:r>
          </a:p>
          <a:p>
            <a:pPr algn="ctr"/>
            <a:r>
              <a:rPr lang="en-IN" dirty="0"/>
              <a:t>Logistic Regression</a:t>
            </a:r>
          </a:p>
          <a:p>
            <a:pPr algn="ctr"/>
            <a:r>
              <a:rPr lang="en-IN" dirty="0"/>
              <a:t>   ↓</a:t>
            </a:r>
          </a:p>
          <a:p>
            <a:pPr algn="ctr"/>
            <a:r>
              <a:rPr lang="en-IN" dirty="0"/>
              <a:t>Prediction Engine</a:t>
            </a:r>
          </a:p>
          <a:p>
            <a:pPr algn="ctr"/>
            <a:r>
              <a:rPr lang="en-IN" dirty="0"/>
              <a:t>   ↓</a:t>
            </a:r>
          </a:p>
          <a:p>
            <a:pPr algn="ctr"/>
            <a:r>
              <a:rPr lang="en-IN" dirty="0" err="1"/>
              <a:t>Streamlit</a:t>
            </a:r>
            <a:r>
              <a:rPr lang="en-IN" dirty="0"/>
              <a:t> Dashboard</a:t>
            </a:r>
          </a:p>
          <a:p>
            <a:pPr algn="ctr"/>
            <a:r>
              <a:rPr lang="en-IN" dirty="0"/>
              <a:t>   ↓</a:t>
            </a:r>
          </a:p>
          <a:p>
            <a:pPr algn="ctr"/>
            <a:r>
              <a:rPr lang="en-IN" dirty="0"/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086" y="4294525"/>
            <a:ext cx="5323561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IN" sz="2200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Deploymen</a:t>
            </a:r>
            <a:r>
              <a:rPr lang="en-IN" sz="2400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t: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000" dirty="0"/>
              <a:t>Train model using Python</a:t>
            </a:r>
            <a:r>
              <a:rPr lang="en-IN" sz="20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000" dirty="0" smtClean="0"/>
              <a:t>Save </a:t>
            </a:r>
            <a:r>
              <a:rPr lang="en-IN" sz="2000" dirty="0"/>
              <a:t>model using Pickle</a:t>
            </a:r>
            <a:r>
              <a:rPr lang="en-IN" sz="20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000" dirty="0" smtClean="0"/>
              <a:t>Create </a:t>
            </a:r>
            <a:r>
              <a:rPr lang="en-IN" sz="2000" dirty="0"/>
              <a:t>web interface using </a:t>
            </a:r>
            <a:r>
              <a:rPr lang="en-IN" sz="2000" dirty="0" err="1" smtClean="0"/>
              <a:t>Streamlit</a:t>
            </a:r>
            <a:r>
              <a:rPr lang="en-IN" sz="20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000" dirty="0" smtClean="0"/>
              <a:t>Deploy </a:t>
            </a:r>
            <a:r>
              <a:rPr lang="en-IN" sz="2000" dirty="0"/>
              <a:t>application locally</a:t>
            </a:r>
            <a:r>
              <a:rPr lang="en-IN" sz="20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000" dirty="0" smtClean="0"/>
              <a:t>Users </a:t>
            </a:r>
            <a:r>
              <a:rPr lang="en-IN" sz="2000" dirty="0"/>
              <a:t>enter donor information</a:t>
            </a:r>
            <a:r>
              <a:rPr lang="en-IN" sz="20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000" dirty="0" smtClean="0"/>
              <a:t>System </a:t>
            </a:r>
            <a:r>
              <a:rPr lang="en-IN" sz="2000" dirty="0"/>
              <a:t>displays prediction instantly.</a:t>
            </a:r>
          </a:p>
        </p:txBody>
      </p:sp>
      <p:cxnSp>
        <p:nvCxnSpPr>
          <p:cNvPr id="12" name="Elbow Connector 11"/>
          <p:cNvCxnSpPr>
            <a:stCxn id="6" idx="3"/>
            <a:endCxn id="8" idx="1"/>
          </p:cNvCxnSpPr>
          <p:nvPr/>
        </p:nvCxnSpPr>
        <p:spPr>
          <a:xfrm>
            <a:off x="6087648" y="2689489"/>
            <a:ext cx="1077240" cy="522506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4508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=""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Result</a:t>
            </a:r>
            <a:endParaRPr lang="en-US"/>
          </a:p>
        </p:txBody>
      </p:sp>
      <p:sp>
        <p:nvSpPr>
          <p:cNvPr id="3" name="Rectangle 1">
            <a:extLst>
              <a:ext uri="{FF2B5EF4-FFF2-40B4-BE49-F238E27FC236}">
                <a16:creationId xmlns="" xmlns:a16="http://schemas.microsoft.com/office/drawing/2014/main" id="{EACDFCCA-3998-2A0E-AE71-80AFE8A15F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30671" y="1216343"/>
            <a:ext cx="4710475" cy="43950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2400" dirty="0"/>
              <a:t>Sample Input:</a:t>
            </a:r>
          </a:p>
          <a:p>
            <a:r>
              <a:rPr lang="en-US" sz="2000" dirty="0" smtClean="0"/>
              <a:t>Month </a:t>
            </a:r>
            <a:r>
              <a:rPr lang="en-US" sz="2000" dirty="0"/>
              <a:t>since last donation = 2</a:t>
            </a:r>
          </a:p>
          <a:p>
            <a:r>
              <a:rPr lang="en-US" sz="2000" dirty="0" smtClean="0"/>
              <a:t>Total </a:t>
            </a:r>
            <a:r>
              <a:rPr lang="en-US" sz="2000" dirty="0"/>
              <a:t>Blood </a:t>
            </a:r>
            <a:r>
              <a:rPr lang="en-US" sz="2000" dirty="0" smtClean="0"/>
              <a:t>Donated </a:t>
            </a:r>
            <a:r>
              <a:rPr lang="en-US" sz="2000" dirty="0"/>
              <a:t>= 7500</a:t>
            </a:r>
          </a:p>
          <a:p>
            <a:r>
              <a:rPr lang="en-US" sz="2000" dirty="0" smtClean="0"/>
              <a:t>Total </a:t>
            </a:r>
            <a:r>
              <a:rPr lang="en-US" sz="2000"/>
              <a:t>Donations </a:t>
            </a:r>
            <a:r>
              <a:rPr lang="en-US" sz="2000" smtClean="0"/>
              <a:t>= 30</a:t>
            </a:r>
            <a:endParaRPr lang="en-US" sz="2000" dirty="0" smtClean="0"/>
          </a:p>
          <a:p>
            <a:r>
              <a:rPr lang="en-US" sz="2000" dirty="0" smtClean="0"/>
              <a:t> </a:t>
            </a:r>
            <a:r>
              <a:rPr lang="en-US" sz="2000" dirty="0"/>
              <a:t>Month </a:t>
            </a:r>
            <a:r>
              <a:rPr lang="en-US" sz="2000" dirty="0" smtClean="0"/>
              <a:t>since</a:t>
            </a:r>
          </a:p>
          <a:p>
            <a:pPr marL="0" indent="0">
              <a:buNone/>
            </a:pPr>
            <a:r>
              <a:rPr lang="en-US" sz="2000" dirty="0"/>
              <a:t> </a:t>
            </a:r>
            <a:r>
              <a:rPr lang="en-US" sz="2000" dirty="0" smtClean="0"/>
              <a:t>     </a:t>
            </a:r>
            <a:r>
              <a:rPr lang="en-US" sz="2000" dirty="0"/>
              <a:t>First Donation = 70</a:t>
            </a:r>
          </a:p>
          <a:p>
            <a:pPr marL="0" indent="0">
              <a:buNone/>
            </a:pPr>
            <a:r>
              <a:rPr lang="en-US" sz="2400" dirty="0" smtClean="0"/>
              <a:t>Output</a:t>
            </a:r>
            <a:r>
              <a:rPr lang="en-US" sz="2400" dirty="0"/>
              <a:t>:</a:t>
            </a:r>
          </a:p>
          <a:p>
            <a:r>
              <a:rPr lang="en-US" sz="2000" dirty="0"/>
              <a:t>"Likely to </a:t>
            </a:r>
            <a:r>
              <a:rPr lang="en-US" sz="2000" dirty="0" smtClean="0"/>
              <a:t>Donate</a:t>
            </a:r>
          </a:p>
          <a:p>
            <a:pPr marL="0" indent="0">
              <a:buNone/>
            </a:pPr>
            <a:r>
              <a:rPr lang="en-US" sz="2000" dirty="0"/>
              <a:t> </a:t>
            </a:r>
            <a:r>
              <a:rPr lang="en-US" sz="2000" dirty="0" smtClean="0"/>
              <a:t>     </a:t>
            </a:r>
            <a:r>
              <a:rPr lang="en-US" sz="2000" dirty="0"/>
              <a:t>Blood Again"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5644" y="845505"/>
            <a:ext cx="5467609" cy="2732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5643" y="3676915"/>
            <a:ext cx="5467609" cy="26988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9775" y="2601664"/>
            <a:ext cx="3032691" cy="41436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832933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=""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927625"/>
            <a:ext cx="11029616" cy="530296"/>
          </a:xfrm>
        </p:spPr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Conclusion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="" xmlns:a16="http://schemas.microsoft.com/office/drawing/2014/main" id="{005E46AB-32C4-4B57-A2B1-50738A64B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en-US" sz="2000" dirty="0"/>
              <a:t>Developed a Machine Learning based Blood Donation Prediction System</a:t>
            </a:r>
            <a:r>
              <a:rPr lang="en-US" sz="2000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000" dirty="0" smtClean="0"/>
              <a:t>Successfully </a:t>
            </a:r>
            <a:r>
              <a:rPr lang="en-US" sz="2000" dirty="0"/>
              <a:t>predicts future donor behavior</a:t>
            </a:r>
            <a:r>
              <a:rPr lang="en-US" sz="2000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000" dirty="0" smtClean="0"/>
              <a:t>Helps </a:t>
            </a:r>
            <a:r>
              <a:rPr lang="en-US" sz="2000" dirty="0"/>
              <a:t>blood banks identify potential donors</a:t>
            </a:r>
            <a:r>
              <a:rPr lang="en-US" sz="2000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000" dirty="0" smtClean="0"/>
              <a:t>Improves </a:t>
            </a:r>
            <a:r>
              <a:rPr lang="en-US" sz="2000" dirty="0"/>
              <a:t>blood availability and management</a:t>
            </a:r>
            <a:r>
              <a:rPr lang="en-US" sz="2000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000" dirty="0" smtClean="0"/>
              <a:t>Provides </a:t>
            </a:r>
            <a:r>
              <a:rPr lang="en-US" sz="2000" dirty="0"/>
              <a:t>a simple and effective solution</a:t>
            </a:r>
            <a:r>
              <a:rPr lang="en-US" sz="2000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000" dirty="0"/>
              <a:t>Supports both individual and bulk donor analysis.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183315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="" xmlns:a16="http://schemas.microsoft.com/office/drawing/2014/main" id="{3F968F13-9AC4-7120-7ACD-9F752C767D5D}"/>
              </a:ext>
            </a:extLst>
          </p:cNvPr>
          <p:cNvSpPr txBox="1">
            <a:spLocks/>
          </p:cNvSpPr>
          <p:nvPr/>
        </p:nvSpPr>
        <p:spPr>
          <a:xfrm>
            <a:off x="535670" y="844659"/>
            <a:ext cx="11029616" cy="53029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4400" b="1" dirty="0">
                <a:solidFill>
                  <a:schemeClr val="accent1"/>
                </a:solidFill>
                <a:latin typeface="Arial"/>
                <a:cs typeface="Arial"/>
              </a:rPr>
              <a:t>Future scope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35670" y="2502904"/>
            <a:ext cx="1102290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accent1"/>
              </a:buClr>
              <a:buFont typeface="Courier New" panose="02070309020205020404" pitchFamily="49" charset="0"/>
              <a:buChar char="o"/>
            </a:pPr>
            <a:r>
              <a:rPr lang="en-US" sz="2000" dirty="0"/>
              <a:t>SMS and Email notifications</a:t>
            </a:r>
            <a:r>
              <a:rPr lang="en-US" sz="2000" dirty="0" smtClean="0"/>
              <a:t>.</a:t>
            </a:r>
          </a:p>
          <a:p>
            <a:pPr marL="342900" indent="-342900">
              <a:buClr>
                <a:schemeClr val="accent1"/>
              </a:buClr>
              <a:buFont typeface="Courier New" panose="02070309020205020404" pitchFamily="49" charset="0"/>
              <a:buChar char="o"/>
            </a:pPr>
            <a:r>
              <a:rPr lang="en-US" sz="2000" dirty="0" smtClean="0"/>
              <a:t>Mobile </a:t>
            </a:r>
            <a:r>
              <a:rPr lang="en-US" sz="2000" dirty="0"/>
              <a:t>application development</a:t>
            </a:r>
            <a:r>
              <a:rPr lang="en-US" sz="2000" dirty="0" smtClean="0"/>
              <a:t>.</a:t>
            </a:r>
          </a:p>
          <a:p>
            <a:pPr marL="342900" indent="-342900">
              <a:buClr>
                <a:schemeClr val="accent1"/>
              </a:buClr>
              <a:buFont typeface="Courier New" panose="02070309020205020404" pitchFamily="49" charset="0"/>
              <a:buChar char="o"/>
            </a:pPr>
            <a:r>
              <a:rPr lang="en-US" sz="2000" dirty="0" smtClean="0"/>
              <a:t>Hospital </a:t>
            </a:r>
            <a:r>
              <a:rPr lang="en-US" sz="2000" dirty="0"/>
              <a:t>and blood bank integration</a:t>
            </a:r>
            <a:r>
              <a:rPr lang="en-US" sz="2000" dirty="0" smtClean="0"/>
              <a:t>.</a:t>
            </a:r>
          </a:p>
          <a:p>
            <a:pPr marL="342900" indent="-342900">
              <a:buClr>
                <a:schemeClr val="accent1"/>
              </a:buClr>
              <a:buFont typeface="Courier New" panose="02070309020205020404" pitchFamily="49" charset="0"/>
              <a:buChar char="o"/>
            </a:pPr>
            <a:r>
              <a:rPr lang="en-US" sz="2000" dirty="0" smtClean="0"/>
              <a:t>Blood </a:t>
            </a:r>
            <a:r>
              <a:rPr lang="en-US" sz="2000" dirty="0"/>
              <a:t>group-wise prediction</a:t>
            </a:r>
            <a:r>
              <a:rPr lang="en-US" sz="2000" dirty="0" smtClean="0"/>
              <a:t>.</a:t>
            </a:r>
          </a:p>
          <a:p>
            <a:pPr marL="342900" indent="-342900">
              <a:buClr>
                <a:schemeClr val="accent1"/>
              </a:buClr>
              <a:buFont typeface="Courier New" panose="02070309020205020404" pitchFamily="49" charset="0"/>
              <a:buChar char="o"/>
            </a:pPr>
            <a:r>
              <a:rPr lang="en-US" sz="2000" dirty="0" smtClean="0"/>
              <a:t>Location-based </a:t>
            </a:r>
            <a:r>
              <a:rPr lang="en-US" sz="2000" dirty="0"/>
              <a:t>donor recommendations</a:t>
            </a:r>
            <a:r>
              <a:rPr lang="en-US" sz="2000" dirty="0" smtClean="0"/>
              <a:t>.</a:t>
            </a:r>
          </a:p>
          <a:p>
            <a:pPr marL="342900" indent="-342900">
              <a:buClr>
                <a:schemeClr val="accent1"/>
              </a:buClr>
              <a:buFont typeface="Courier New" panose="02070309020205020404" pitchFamily="49" charset="0"/>
              <a:buChar char="o"/>
            </a:pPr>
            <a:r>
              <a:rPr lang="en-US" sz="2000" dirty="0" smtClean="0"/>
              <a:t>Use </a:t>
            </a:r>
            <a:r>
              <a:rPr lang="en-US" sz="2000" dirty="0"/>
              <a:t>advanced Machine Learning algorithms for better accuracy</a:t>
            </a:r>
            <a:r>
              <a:rPr lang="en-US" dirty="0"/>
              <a:t>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4882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=""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References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A39C82B0-CBA2-0FD2-0400-979E31AC4978}"/>
              </a:ext>
            </a:extLst>
          </p:cNvPr>
          <p:cNvSpPr txBox="1"/>
          <p:nvPr/>
        </p:nvSpPr>
        <p:spPr>
          <a:xfrm>
            <a:off x="668866" y="1325938"/>
            <a:ext cx="997825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F0"/>
              </a:buClr>
              <a:buFont typeface="Wingdings" panose="05000000000000000000" pitchFamily="2" charset="2"/>
              <a:buChar char="v"/>
            </a:pPr>
            <a:r>
              <a:rPr lang="en-US" b="1" dirty="0" smtClean="0">
                <a:hlinkClick r:id="rId2"/>
              </a:rPr>
              <a:t>pandas </a:t>
            </a:r>
            <a:r>
              <a:rPr lang="en-US" b="1" dirty="0">
                <a:hlinkClick r:id="rId2"/>
              </a:rPr>
              <a:t>- Python Data Analysis </a:t>
            </a:r>
            <a:r>
              <a:rPr lang="en-US" b="1" dirty="0" smtClean="0">
                <a:hlinkClick r:id="rId2"/>
              </a:rPr>
              <a:t>Library</a:t>
            </a:r>
            <a:r>
              <a:rPr lang="en-US" dirty="0" smtClean="0">
                <a:hlinkClick r:id="rId2"/>
              </a:rPr>
              <a:t>  pandas – Python </a:t>
            </a:r>
          </a:p>
          <a:p>
            <a:r>
              <a:rPr lang="en-US" i="1" dirty="0" smtClean="0">
                <a:hlinkClick r:id="rId2"/>
              </a:rPr>
              <a:t>https</a:t>
            </a:r>
            <a:r>
              <a:rPr lang="en-US" i="1" dirty="0">
                <a:hlinkClick r:id="rId2"/>
              </a:rPr>
              <a:t>://pandas.pydata.org</a:t>
            </a:r>
            <a:endParaRPr lang="en-US" dirty="0">
              <a:hlinkClick r:id="rId2"/>
            </a:endParaRPr>
          </a:p>
          <a:p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6868E3FB-22A7-E0B8-4581-182B6AF5A531}"/>
              </a:ext>
            </a:extLst>
          </p:cNvPr>
          <p:cNvSpPr txBox="1"/>
          <p:nvPr/>
        </p:nvSpPr>
        <p:spPr>
          <a:xfrm>
            <a:off x="668866" y="215693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F0"/>
              </a:buClr>
              <a:buFont typeface="Wingdings" panose="05000000000000000000" pitchFamily="2" charset="2"/>
              <a:buChar char="v"/>
            </a:pPr>
            <a:r>
              <a:rPr lang="en-US" dirty="0" err="1">
                <a:hlinkClick r:id="rId3"/>
              </a:rPr>
              <a:t>Streamlit</a:t>
            </a:r>
            <a:r>
              <a:rPr lang="en-US" dirty="0">
                <a:hlinkClick r:id="rId3"/>
              </a:rPr>
              <a:t> • A faster way to build and share data apps</a:t>
            </a:r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A0AED30D-1BDE-D15E-24BF-CDF91FB17E3B}"/>
              </a:ext>
            </a:extLst>
          </p:cNvPr>
          <p:cNvSpPr txBox="1"/>
          <p:nvPr/>
        </p:nvSpPr>
        <p:spPr>
          <a:xfrm>
            <a:off x="668866" y="2885159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F0"/>
              </a:buClr>
              <a:buFont typeface="Wingdings" panose="05000000000000000000" pitchFamily="2" charset="2"/>
              <a:buChar char="v"/>
            </a:pPr>
            <a:r>
              <a:rPr lang="en-US" b="1" dirty="0" smtClean="0">
                <a:hlinkClick r:id="rId4"/>
              </a:rPr>
              <a:t>Welcome </a:t>
            </a:r>
            <a:r>
              <a:rPr lang="en-US" b="1" dirty="0">
                <a:hlinkClick r:id="rId4"/>
              </a:rPr>
              <a:t>to </a:t>
            </a:r>
            <a:r>
              <a:rPr lang="en-US" b="1" dirty="0" smtClean="0">
                <a:hlinkClick r:id="rId4"/>
              </a:rPr>
              <a:t>Python.org</a:t>
            </a:r>
            <a:r>
              <a:rPr lang="en-US" dirty="0" smtClean="0">
                <a:hlinkClick r:id="rId4"/>
              </a:rPr>
              <a:t>  Python.org  </a:t>
            </a:r>
            <a:r>
              <a:rPr lang="en-US" i="1" dirty="0" smtClean="0">
                <a:hlinkClick r:id="rId4"/>
              </a:rPr>
              <a:t>https</a:t>
            </a:r>
            <a:r>
              <a:rPr lang="en-US" i="1" dirty="0">
                <a:hlinkClick r:id="rId4"/>
              </a:rPr>
              <a:t>://www.python.org</a:t>
            </a:r>
            <a:endParaRPr lang="en-US" dirty="0">
              <a:hlinkClick r:id="rId4"/>
            </a:endParaRPr>
          </a:p>
          <a:p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60239F6C-608D-FFC0-AE73-B5FE2296234F}"/>
              </a:ext>
            </a:extLst>
          </p:cNvPr>
          <p:cNvSpPr txBox="1"/>
          <p:nvPr/>
        </p:nvSpPr>
        <p:spPr>
          <a:xfrm>
            <a:off x="668866" y="380848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F0"/>
              </a:buClr>
              <a:buFont typeface="Wingdings" panose="05000000000000000000" pitchFamily="2" charset="2"/>
              <a:buChar char="v"/>
            </a:pPr>
            <a:r>
              <a:rPr lang="en-US" dirty="0">
                <a:hlinkClick r:id="rId5"/>
              </a:rPr>
              <a:t>1. Supervised learning — scikit-learn 1.8.0 documentation</a:t>
            </a:r>
            <a:endParaRPr lang="en-IN" dirty="0"/>
          </a:p>
        </p:txBody>
      </p:sp>
      <p:sp>
        <p:nvSpPr>
          <p:cNvPr id="2" name="TextBox 1"/>
          <p:cNvSpPr txBox="1"/>
          <p:nvPr/>
        </p:nvSpPr>
        <p:spPr>
          <a:xfrm>
            <a:off x="668866" y="4494333"/>
            <a:ext cx="104041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B0F0"/>
              </a:buClr>
              <a:buFont typeface="Wingdings" panose="05000000000000000000" pitchFamily="2" charset="2"/>
              <a:buChar char="v"/>
            </a:pPr>
            <a:r>
              <a:rPr lang="en-IN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Blood </a:t>
            </a:r>
            <a:r>
              <a:rPr lang="en-IN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Transfusion Service </a:t>
            </a:r>
            <a:r>
              <a:rPr lang="en-IN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Centre Dataset</a:t>
            </a:r>
            <a:r>
              <a:rPr lang="en-IN" b="1" dirty="0" smtClean="0"/>
              <a:t>:</a:t>
            </a:r>
          </a:p>
          <a:p>
            <a:r>
              <a:rPr lang="en-IN" dirty="0" smtClean="0"/>
              <a:t> ( </a:t>
            </a:r>
            <a:r>
              <a:rPr lang="en-IN" dirty="0" smtClean="0">
                <a:hlinkClick r:id="rId6"/>
              </a:rPr>
              <a:t>https</a:t>
            </a:r>
            <a:r>
              <a:rPr lang="en-IN" dirty="0" smtClean="0">
                <a:hlinkClick r:id="rId6"/>
              </a:rPr>
              <a:t>://</a:t>
            </a:r>
            <a:r>
              <a:rPr lang="en-IN" dirty="0" smtClean="0">
                <a:hlinkClick r:id="rId6"/>
              </a:rPr>
              <a:t>archive.ics.uci.edu/dataset/176/blood+transfusion+service+center</a:t>
            </a:r>
            <a:r>
              <a:rPr lang="en-IN" dirty="0" smtClean="0"/>
              <a:t> 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8950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25C18F4-90FF-869B-D16A-31F40314E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 link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728B4D2-2154-F20B-F64F-A6097D21B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Github</a:t>
            </a:r>
            <a:r>
              <a:rPr lang="en-IN" dirty="0"/>
              <a:t> Link </a:t>
            </a:r>
            <a:r>
              <a:rPr lang="en-IN" dirty="0" smtClean="0"/>
              <a:t>: ( </a:t>
            </a:r>
            <a:r>
              <a:rPr lang="en-IN" dirty="0" smtClean="0">
                <a:hlinkClick r:id="rId2"/>
              </a:rPr>
              <a:t>https</a:t>
            </a:r>
            <a:r>
              <a:rPr lang="en-IN" dirty="0">
                <a:hlinkClick r:id="rId2"/>
              </a:rPr>
              <a:t>://</a:t>
            </a:r>
            <a:r>
              <a:rPr lang="en-IN" dirty="0" smtClean="0">
                <a:hlinkClick r:id="rId2"/>
              </a:rPr>
              <a:t>github.com/so-l-s/BloodLife-AI-Blood-Donation-Prediction-System</a:t>
            </a:r>
            <a:r>
              <a:rPr lang="en-IN" dirty="0" smtClean="0"/>
              <a:t> )</a:t>
            </a:r>
            <a:endParaRPr lang="en-IN" dirty="0"/>
          </a:p>
          <a:p>
            <a:r>
              <a:rPr lang="en-IN" dirty="0"/>
              <a:t>Deployment Link: </a:t>
            </a:r>
            <a:r>
              <a:rPr lang="en-IN" dirty="0" err="1" smtClean="0"/>
              <a:t>Streamlit</a:t>
            </a:r>
            <a:r>
              <a:rPr lang="en-IN" dirty="0" smtClean="0"/>
              <a:t> ( </a:t>
            </a:r>
            <a:r>
              <a:rPr lang="en-IN" dirty="0" smtClean="0">
                <a:hlinkClick r:id="rId3"/>
              </a:rPr>
              <a:t>https://bloodlife-ai.streamlit.app/</a:t>
            </a:r>
            <a:r>
              <a:rPr lang="en-IN" dirty="0" smtClean="0"/>
              <a:t> 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5909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="" xmlns:a16="http://schemas.microsoft.com/office/drawing/2014/main" id="{8BE4CA82-64EC-4D4E-A5E5-3EBB66E7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41" y="2766218"/>
            <a:ext cx="9298744" cy="1325563"/>
          </a:xfrm>
        </p:spPr>
        <p:txBody>
          <a:bodyPr/>
          <a:lstStyle/>
          <a:p>
            <a:pPr algn="ctr"/>
            <a:r>
              <a:rPr lang="en-US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0662553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9162bd5b-4ed9-4da3-b376-05204580ba3f" xsi:nil="true"/>
    <_activity xmlns="9162bd5b-4ed9-4da3-b376-05204580ba3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F1872188ABCFC48BECA6C87E8AC3285" ma:contentTypeVersion="17" ma:contentTypeDescription="Create a new document." ma:contentTypeScope="" ma:versionID="55a158675e089c6a85ab0f83b89e1a15">
  <xsd:schema xmlns:xsd="http://www.w3.org/2001/XMLSchema" xmlns:xs="http://www.w3.org/2001/XMLSchema" xmlns:p="http://schemas.microsoft.com/office/2006/metadata/properties" xmlns:ns3="9162bd5b-4ed9-4da3-b376-05204580ba3f" xmlns:ns4="c0fa2617-96bd-425d-8578-e93563fe37c5" targetNamespace="http://schemas.microsoft.com/office/2006/metadata/properties" ma:root="true" ma:fieldsID="b35f082308864fa161c4a0a9eca35eff" ns3:_="" ns4:_="">
    <xsd:import namespace="9162bd5b-4ed9-4da3-b376-05204580ba3f"/>
    <xsd:import namespace="c0fa2617-96bd-425d-8578-e93563fe37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62bd5b-4ed9-4da3-b376-05204580ba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fa2617-96bd-425d-8578-e93563fe37c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D289AE2-D2AE-49D1-AFAC-3A79F6794255}">
  <ds:schemaRefs>
    <ds:schemaRef ds:uri="9162bd5b-4ed9-4da3-b376-05204580ba3f"/>
    <ds:schemaRef ds:uri="c0fa2617-96bd-425d-8578-e93563fe37c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E816721-11E4-4989-8472-AB5A7EC20404}">
  <ds:schemaRefs>
    <ds:schemaRef ds:uri="9162bd5b-4ed9-4da3-b376-05204580ba3f"/>
    <ds:schemaRef ds:uri="c0fa2617-96bd-425d-8578-e93563fe37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Future forward</Template>
  <TotalTime>1186</TotalTime>
  <Words>478</Words>
  <Application>Microsoft Office PowerPoint</Application>
  <PresentationFormat>Custom</PresentationFormat>
  <Paragraphs>113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DividendVTI</vt:lpstr>
      <vt:lpstr>BloodLife AI: Blood Donation Prediction System Using Machine Learning</vt:lpstr>
      <vt:lpstr>OUTLINE</vt:lpstr>
      <vt:lpstr>Problem Statement</vt:lpstr>
      <vt:lpstr>Proposed Solution</vt:lpstr>
      <vt:lpstr>System  Approach</vt:lpstr>
      <vt:lpstr>Algorithm &amp; Deployment</vt:lpstr>
      <vt:lpstr>Result</vt:lpstr>
      <vt:lpstr>Conclusion</vt:lpstr>
      <vt:lpstr>PowerPoint Presentation</vt:lpstr>
      <vt:lpstr>References</vt:lpstr>
      <vt:lpstr>Github link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SkillsBuild Partner Update template</dc:title>
  <dc:creator>Vaibhav Ostwal</dc:creator>
  <cp:lastModifiedBy>ismail - [2010]</cp:lastModifiedBy>
  <cp:revision>52</cp:revision>
  <dcterms:created xsi:type="dcterms:W3CDTF">2021-05-26T16:50:10Z</dcterms:created>
  <dcterms:modified xsi:type="dcterms:W3CDTF">2026-06-21T09:33:46Z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0x0101000F1872188ABCFC48BECA6C87E8AC3285</vt:lpwstr>
  </property>
</Properties>
</file>